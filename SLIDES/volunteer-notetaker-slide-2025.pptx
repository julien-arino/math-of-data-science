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1.emf" ContentType="image/x-emf"/>
  <Override PartName="/ppt/media/image4.emf" ContentType="image/x-emf"/>
  <Override PartName="/ppt/slides/slide1.xml" ContentType="application/vnd.openxmlformats-officedocument.presentationml.slide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6"/>
  </p:sldMasterIdLst>
  <p:sldIdLst>
    <p:sldId id="256" r:id="rId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theme" Target="theme/theme1.xml"/><Relationship Id="rId6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eg"/><Relationship Id="rId4" Type="http://schemas.openxmlformats.org/officeDocument/2006/relationships/hyperlink" Target="https://umanitoba.ca/student-supports/accessibility#volunteer-note-sharing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4.emf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eg"/><Relationship Id="rId4" Type="http://schemas.openxmlformats.org/officeDocument/2006/relationships/hyperlink" Target="https://umanitoba.ca/student-supports/accessibility#volunteer-note-sharing" TargetMode="External"/><Relationship Id="rId5" Type="http://schemas.openxmlformats.org/officeDocument/2006/relationships/image" Target="../media/image4.emf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eg"/><Relationship Id="rId4" Type="http://schemas.openxmlformats.org/officeDocument/2006/relationships/hyperlink" Target="https://umanitoba.ca/student-supports/accessibility#volunteer-note-sharing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eg"/><Relationship Id="rId4" Type="http://schemas.openxmlformats.org/officeDocument/2006/relationships/hyperlink" Target="https://umanitoba.ca/student-supports/accessibility#volunteer-note-sharing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eg"/><Relationship Id="rId4" Type="http://schemas.openxmlformats.org/officeDocument/2006/relationships/hyperlink" Target="https://umanitoba.ca/student-supports/accessibility#volunteer-note-sharing" TargetMode="External"/><Relationship Id="rId5" Type="http://schemas.openxmlformats.org/officeDocument/2006/relationships/image" Target="../media/image8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eg"/><Relationship Id="rId4" Type="http://schemas.openxmlformats.org/officeDocument/2006/relationships/hyperlink" Target="https://umanitoba.ca/student-supports/accessibility#volunteer-note-sharing" TargetMode="External"/><Relationship Id="rId5" Type="http://schemas.openxmlformats.org/officeDocument/2006/relationships/image" Target="../media/image8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eg"/><Relationship Id="rId4" Type="http://schemas.openxmlformats.org/officeDocument/2006/relationships/hyperlink" Target="https://umanitoba.ca/student-supports/accessibility#volunteer-note-sharing" TargetMode="External"/><Relationship Id="rId5" Type="http://schemas.openxmlformats.org/officeDocument/2006/relationships/image" Target="../media/image9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eg"/><Relationship Id="rId4" Type="http://schemas.openxmlformats.org/officeDocument/2006/relationships/hyperlink" Target="https://umanitoba.ca/student-supports/accessibility#volunteer-note-sharing" TargetMode="External"/><Relationship Id="rId5" Type="http://schemas.openxmlformats.org/officeDocument/2006/relationships/image" Target="../media/image10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eg"/><Relationship Id="rId4" Type="http://schemas.openxmlformats.org/officeDocument/2006/relationships/hyperlink" Target="https://umanitoba.ca/student-supports/accessibility#volunteer-note-sharing" TargetMode="External"/><Relationship Id="rId5" Type="http://schemas.openxmlformats.org/officeDocument/2006/relationships/image" Target="../media/image1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eg"/><Relationship Id="rId4" Type="http://schemas.openxmlformats.org/officeDocument/2006/relationships/hyperlink" Target="https://umanitoba.ca/student-supports/accessibility#volunteer-note-sharing" TargetMode="Externa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/>
          <p:nvPr/>
        </p:nvPicPr>
        <p:blipFill>
          <a:blip r:embed="rId2"/>
          <a:stretch/>
        </p:blipFill>
        <p:spPr>
          <a:xfrm>
            <a:off x="0" y="4423320"/>
            <a:ext cx="9143640" cy="5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4" descr="A close-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5853960" y="4523400"/>
            <a:ext cx="314316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TextBox 9"/>
          <p:cNvSpPr/>
          <p:nvPr/>
        </p:nvSpPr>
        <p:spPr>
          <a:xfrm>
            <a:off x="146520" y="4673160"/>
            <a:ext cx="57967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Aptos Narrow"/>
                <a:hlinkClick r:id="rId4"/>
              </a:rPr>
              <a:t>https://umanitoba.ca/student-supports/accessibility#volunteer-note-sharing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>
          <a:xfrm>
            <a:off x="1143000" y="1577160"/>
            <a:ext cx="6857640" cy="651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rPr>
              <a:t>Presentation Title</a:t>
            </a:r>
            <a:endParaRPr lang="en-US" sz="6000" b="1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6" name="Rectangle 10"/>
          <p:cNvSpPr/>
          <p:nvPr/>
        </p:nvSpPr>
        <p:spPr>
          <a:xfrm>
            <a:off x="0" y="2781360"/>
            <a:ext cx="9143640" cy="2361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" name="Picture 8"/>
          <p:cNvPicPr/>
          <p:nvPr/>
        </p:nvPicPr>
        <p:blipFill>
          <a:blip r:embed="rId5"/>
          <a:stretch/>
        </p:blipFill>
        <p:spPr>
          <a:xfrm>
            <a:off x="0" y="2914560"/>
            <a:ext cx="3897000" cy="22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Picture 9"/>
          <p:cNvPicPr/>
          <p:nvPr/>
        </p:nvPicPr>
        <p:blipFill>
          <a:blip r:embed="rId6"/>
          <a:stretch/>
        </p:blipFill>
        <p:spPr>
          <a:xfrm>
            <a:off x="5920920" y="3863520"/>
            <a:ext cx="2623320" cy="95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ting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/>
          <p:cNvPicPr/>
          <p:nvPr/>
        </p:nvPicPr>
        <p:blipFill>
          <a:blip r:embed="rId2"/>
          <a:stretch/>
        </p:blipFill>
        <p:spPr>
          <a:xfrm>
            <a:off x="0" y="4423320"/>
            <a:ext cx="9143640" cy="5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4" descr="A close-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5853960" y="4523400"/>
            <a:ext cx="314316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Box 9"/>
          <p:cNvSpPr/>
          <p:nvPr/>
        </p:nvSpPr>
        <p:spPr>
          <a:xfrm>
            <a:off x="146520" y="4673160"/>
            <a:ext cx="57967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Aptos Narrow"/>
                <a:hlinkClick r:id="rId4"/>
              </a:rPr>
              <a:t>https://umanitoba.ca/student-supports/accessibility#volunteer-note-sharing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Rectangle 5"/>
          <p:cNvSpPr/>
          <p:nvPr/>
        </p:nvSpPr>
        <p:spPr>
          <a:xfrm>
            <a:off x="0" y="360"/>
            <a:ext cx="9143640" cy="5143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" name="Picture 7"/>
          <p:cNvPicPr/>
          <p:nvPr/>
        </p:nvPicPr>
        <p:blipFill>
          <a:blip r:embed="rId5"/>
          <a:stretch/>
        </p:blipFill>
        <p:spPr>
          <a:xfrm>
            <a:off x="2629080" y="1866600"/>
            <a:ext cx="3841560" cy="139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7"/>
          <p:cNvPicPr/>
          <p:nvPr/>
        </p:nvPicPr>
        <p:blipFill>
          <a:blip r:embed="rId2"/>
          <a:stretch/>
        </p:blipFill>
        <p:spPr>
          <a:xfrm>
            <a:off x="0" y="4423320"/>
            <a:ext cx="9143640" cy="5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4" descr="A close-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5853960" y="4523400"/>
            <a:ext cx="314316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Box 9"/>
          <p:cNvSpPr/>
          <p:nvPr/>
        </p:nvSpPr>
        <p:spPr>
          <a:xfrm>
            <a:off x="146520" y="4673160"/>
            <a:ext cx="57967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Aptos Narrow"/>
                <a:hlinkClick r:id="rId4"/>
              </a:rPr>
              <a:t>https://umanitoba.ca/student-supports/accessibility#volunteer-note-sharing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 hasCustomPrompt="1"/>
          </p:nvPr>
        </p:nvSpPr>
        <p:spPr>
          <a:xfrm>
            <a:off x="1188720" y="700920"/>
            <a:ext cx="732636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rPr>
              <a:t>Header</a:t>
            </a:r>
            <a:endParaRPr lang="en-US" sz="3600" b="1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188720" y="1663200"/>
            <a:ext cx="7326360" cy="156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 hasCustomPrompt="1"/>
          </p:nvPr>
        </p:nvSpPr>
        <p:spPr>
          <a:xfrm>
            <a:off x="1188720" y="1217160"/>
            <a:ext cx="7326360" cy="29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Subhead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7"/>
          <p:cNvPicPr/>
          <p:nvPr/>
        </p:nvPicPr>
        <p:blipFill>
          <a:blip r:embed="rId2"/>
          <a:stretch/>
        </p:blipFill>
        <p:spPr>
          <a:xfrm>
            <a:off x="0" y="4423320"/>
            <a:ext cx="9143640" cy="5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4" descr="A close-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5853960" y="4523400"/>
            <a:ext cx="314316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Box 9"/>
          <p:cNvSpPr/>
          <p:nvPr/>
        </p:nvSpPr>
        <p:spPr>
          <a:xfrm>
            <a:off x="146520" y="4673160"/>
            <a:ext cx="57967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Aptos Narrow"/>
                <a:hlinkClick r:id="rId4"/>
              </a:rPr>
              <a:t>https://umanitoba.ca/student-supports/accessibility#volunteer-note-sharing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body" hasCustomPrompt="1"/>
          </p:nvPr>
        </p:nvSpPr>
        <p:spPr>
          <a:xfrm>
            <a:off x="883800" y="2232360"/>
            <a:ext cx="2204280" cy="29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Subhead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83800" y="2615760"/>
            <a:ext cx="2204280" cy="1224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7"/>
          <p:cNvPicPr/>
          <p:nvPr/>
        </p:nvPicPr>
        <p:blipFill>
          <a:blip r:embed="rId5"/>
          <a:stretch/>
        </p:blipFill>
        <p:spPr>
          <a:xfrm>
            <a:off x="883800" y="1326600"/>
            <a:ext cx="2246760" cy="72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3"/>
          <p:cNvSpPr>
            <a:spLocks noGrp="1"/>
          </p:cNvSpPr>
          <p:nvPr>
            <p:ph type="body" hasCustomPrompt="1"/>
          </p:nvPr>
        </p:nvSpPr>
        <p:spPr>
          <a:xfrm>
            <a:off x="3458520" y="2232360"/>
            <a:ext cx="2204280" cy="29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Subhead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458520" y="2615760"/>
            <a:ext cx="2204280" cy="1224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 hasCustomPrompt="1"/>
          </p:nvPr>
        </p:nvSpPr>
        <p:spPr>
          <a:xfrm>
            <a:off x="6055200" y="2232360"/>
            <a:ext cx="2204280" cy="29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Subhead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6055200" y="2615760"/>
            <a:ext cx="2204280" cy="1224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title" hasCustomPrompt="1"/>
          </p:nvPr>
        </p:nvSpPr>
        <p:spPr>
          <a:xfrm>
            <a:off x="883800" y="716400"/>
            <a:ext cx="732636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rPr>
              <a:t>Header</a:t>
            </a:r>
            <a:endParaRPr lang="en-US" sz="3600" b="1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34" name="Picture 16"/>
          <p:cNvPicPr/>
          <p:nvPr/>
        </p:nvPicPr>
        <p:blipFill>
          <a:blip r:embed="rId6"/>
          <a:stretch/>
        </p:blipFill>
        <p:spPr>
          <a:xfrm>
            <a:off x="3458520" y="1326600"/>
            <a:ext cx="2246760" cy="72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Picture 17"/>
          <p:cNvPicPr/>
          <p:nvPr/>
        </p:nvPicPr>
        <p:blipFill>
          <a:blip r:embed="rId7"/>
          <a:stretch/>
        </p:blipFill>
        <p:spPr>
          <a:xfrm>
            <a:off x="6055200" y="1326600"/>
            <a:ext cx="2246760" cy="728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7"/>
          <p:cNvPicPr/>
          <p:nvPr/>
        </p:nvPicPr>
        <p:blipFill>
          <a:blip r:embed="rId2"/>
          <a:stretch/>
        </p:blipFill>
        <p:spPr>
          <a:xfrm>
            <a:off x="0" y="4423320"/>
            <a:ext cx="9143640" cy="5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Picture 4" descr="A close-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5853960" y="4523400"/>
            <a:ext cx="314316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Box 9"/>
          <p:cNvSpPr/>
          <p:nvPr/>
        </p:nvSpPr>
        <p:spPr>
          <a:xfrm>
            <a:off x="146520" y="4673160"/>
            <a:ext cx="57967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Aptos Narrow"/>
                <a:hlinkClick r:id="rId4"/>
              </a:rPr>
              <a:t>https://umanitoba.ca/student-supports/accessibility#volunteer-note-sharing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body" hasCustomPrompt="1"/>
          </p:nvPr>
        </p:nvSpPr>
        <p:spPr>
          <a:xfrm>
            <a:off x="1239480" y="1299240"/>
            <a:ext cx="2204280" cy="29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Subhead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239480" y="1716480"/>
            <a:ext cx="3332160" cy="167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title" hasCustomPrompt="1"/>
          </p:nvPr>
        </p:nvSpPr>
        <p:spPr>
          <a:xfrm>
            <a:off x="1239480" y="699120"/>
            <a:ext cx="732636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rPr>
              <a:t>Header</a:t>
            </a:r>
            <a:endParaRPr lang="en-US" sz="3600" b="1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42" name="Picture 3"/>
          <p:cNvPicPr/>
          <p:nvPr/>
        </p:nvPicPr>
        <p:blipFill>
          <a:blip r:embed="rId5"/>
          <a:stretch/>
        </p:blipFill>
        <p:spPr>
          <a:xfrm>
            <a:off x="4878000" y="1308960"/>
            <a:ext cx="3332160" cy="2079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7"/>
          <p:cNvPicPr/>
          <p:nvPr/>
        </p:nvPicPr>
        <p:blipFill>
          <a:blip r:embed="rId2"/>
          <a:stretch/>
        </p:blipFill>
        <p:spPr>
          <a:xfrm>
            <a:off x="0" y="4423320"/>
            <a:ext cx="9143640" cy="5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Picture 4" descr="A close-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5853960" y="4523400"/>
            <a:ext cx="314316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Box 9"/>
          <p:cNvSpPr/>
          <p:nvPr/>
        </p:nvSpPr>
        <p:spPr>
          <a:xfrm>
            <a:off x="146520" y="4673160"/>
            <a:ext cx="57967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Aptos Narrow"/>
                <a:hlinkClick r:id="rId4"/>
              </a:rPr>
              <a:t>https://umanitoba.ca/student-supports/accessibility#volunteer-note-sharing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Picture 3"/>
          <p:cNvPicPr/>
          <p:nvPr/>
        </p:nvPicPr>
        <p:blipFill>
          <a:blip r:embed="rId5"/>
          <a:stretch/>
        </p:blipFill>
        <p:spPr>
          <a:xfrm>
            <a:off x="1239480" y="1293840"/>
            <a:ext cx="3332160" cy="207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body" hasCustomPrompt="1"/>
          </p:nvPr>
        </p:nvSpPr>
        <p:spPr>
          <a:xfrm>
            <a:off x="4902840" y="1293840"/>
            <a:ext cx="2204280" cy="29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Subhead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902840" y="1701000"/>
            <a:ext cx="3332160" cy="167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title" hasCustomPrompt="1"/>
          </p:nvPr>
        </p:nvSpPr>
        <p:spPr>
          <a:xfrm>
            <a:off x="1239480" y="699120"/>
            <a:ext cx="732636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rPr>
              <a:t>Header</a:t>
            </a:r>
            <a:endParaRPr lang="en-US" sz="3600" b="1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7"/>
          <p:cNvPicPr/>
          <p:nvPr/>
        </p:nvPicPr>
        <p:blipFill>
          <a:blip r:embed="rId2"/>
          <a:stretch/>
        </p:blipFill>
        <p:spPr>
          <a:xfrm>
            <a:off x="0" y="4423320"/>
            <a:ext cx="9143640" cy="5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Picture 4" descr="A close-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5853960" y="4523400"/>
            <a:ext cx="314316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Box 9"/>
          <p:cNvSpPr/>
          <p:nvPr/>
        </p:nvSpPr>
        <p:spPr>
          <a:xfrm>
            <a:off x="146520" y="4673160"/>
            <a:ext cx="57967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Aptos Narrow"/>
                <a:hlinkClick r:id="rId4"/>
              </a:rPr>
              <a:t>https://umanitoba.ca/student-supports/accessibility#volunteer-note-sharing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Picture 2"/>
          <p:cNvPicPr/>
          <p:nvPr/>
        </p:nvPicPr>
        <p:blipFill>
          <a:blip r:embed="rId5"/>
          <a:stretch/>
        </p:blipFill>
        <p:spPr>
          <a:xfrm>
            <a:off x="0" y="0"/>
            <a:ext cx="9143640" cy="443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7"/>
          <p:cNvPicPr/>
          <p:nvPr/>
        </p:nvPicPr>
        <p:blipFill>
          <a:blip r:embed="rId2"/>
          <a:stretch/>
        </p:blipFill>
        <p:spPr>
          <a:xfrm>
            <a:off x="0" y="4423320"/>
            <a:ext cx="9143640" cy="5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4" descr="A close-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5853960" y="4523400"/>
            <a:ext cx="314316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Box 9"/>
          <p:cNvSpPr/>
          <p:nvPr/>
        </p:nvSpPr>
        <p:spPr>
          <a:xfrm>
            <a:off x="146520" y="4673160"/>
            <a:ext cx="57967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Aptos Narrow"/>
                <a:hlinkClick r:id="rId4"/>
              </a:rPr>
              <a:t>https://umanitoba.ca/student-supports/accessibility#volunteer-note-sharing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body" hasCustomPrompt="1"/>
          </p:nvPr>
        </p:nvSpPr>
        <p:spPr>
          <a:xfrm>
            <a:off x="447120" y="1463040"/>
            <a:ext cx="2001240" cy="2019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Subhead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60" name="Picture 1"/>
          <p:cNvPicPr/>
          <p:nvPr/>
        </p:nvPicPr>
        <p:blipFill>
          <a:blip r:embed="rId5"/>
          <a:stretch/>
        </p:blipFill>
        <p:spPr>
          <a:xfrm>
            <a:off x="2867040" y="0"/>
            <a:ext cx="6276600" cy="442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7"/>
          <p:cNvPicPr/>
          <p:nvPr/>
        </p:nvPicPr>
        <p:blipFill>
          <a:blip r:embed="rId2"/>
          <a:stretch/>
        </p:blipFill>
        <p:spPr>
          <a:xfrm>
            <a:off x="0" y="4423320"/>
            <a:ext cx="9143640" cy="5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Picture 4" descr="A close-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5853960" y="4523400"/>
            <a:ext cx="314316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Box 9"/>
          <p:cNvSpPr/>
          <p:nvPr/>
        </p:nvSpPr>
        <p:spPr>
          <a:xfrm>
            <a:off x="146520" y="4673160"/>
            <a:ext cx="57967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Aptos Narrow"/>
                <a:hlinkClick r:id="rId4"/>
              </a:rPr>
              <a:t>https://umanitoba.ca/student-supports/accessibility#volunteer-note-sharing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 hasCustomPrompt="1"/>
          </p:nvPr>
        </p:nvSpPr>
        <p:spPr>
          <a:xfrm>
            <a:off x="1188720" y="700920"/>
            <a:ext cx="441936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rPr>
              <a:t>Header</a:t>
            </a:r>
            <a:endParaRPr lang="en-US" sz="3600" b="1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1188720" y="1663200"/>
            <a:ext cx="4419360" cy="156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 hasCustomPrompt="1"/>
          </p:nvPr>
        </p:nvSpPr>
        <p:spPr>
          <a:xfrm>
            <a:off x="1188720" y="1217160"/>
            <a:ext cx="4419360" cy="29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Subhead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5"/>
          <p:cNvPicPr/>
          <p:nvPr/>
        </p:nvPicPr>
        <p:blipFill>
          <a:blip r:embed="rId5"/>
          <a:stretch/>
        </p:blipFill>
        <p:spPr>
          <a:xfrm>
            <a:off x="6343560" y="0"/>
            <a:ext cx="2800080" cy="4426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hart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7"/>
          <p:cNvPicPr/>
          <p:nvPr/>
        </p:nvPicPr>
        <p:blipFill>
          <a:blip r:embed="rId2"/>
          <a:stretch/>
        </p:blipFill>
        <p:spPr>
          <a:xfrm>
            <a:off x="0" y="4423320"/>
            <a:ext cx="9143640" cy="5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4" descr="A close-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5853960" y="4523400"/>
            <a:ext cx="314316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9"/>
          <p:cNvSpPr/>
          <p:nvPr/>
        </p:nvSpPr>
        <p:spPr>
          <a:xfrm>
            <a:off x="146520" y="4673160"/>
            <a:ext cx="57967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Aptos Narrow"/>
                <a:hlinkClick r:id="rId4"/>
              </a:rPr>
              <a:t>https://umanitoba.ca/student-supports/accessibility#volunteer-note-sharing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 hasCustomPrompt="1"/>
          </p:nvPr>
        </p:nvSpPr>
        <p:spPr>
          <a:xfrm>
            <a:off x="4368960" y="630360"/>
            <a:ext cx="317988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rPr>
              <a:t>Header</a:t>
            </a:r>
            <a:endParaRPr lang="en-US" sz="3600" b="1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 hasCustomPrompt="1"/>
          </p:nvPr>
        </p:nvSpPr>
        <p:spPr>
          <a:xfrm>
            <a:off x="680760" y="1331640"/>
            <a:ext cx="2244960" cy="138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Subhead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80760" y="3408840"/>
            <a:ext cx="2001240" cy="46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3586320" y="1135800"/>
            <a:ext cx="4998600" cy="2908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748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748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umanitoba.ca/student-supports/get-involved/experience-record" TargetMode="External"/><Relationship Id="rId2" Type="http://schemas.openxmlformats.org/officeDocument/2006/relationships/hyperlink" Target="https://sasclockwork.cc.umanitoba.ca/ClockWork/" TargetMode="External"/><Relationship Id="rId3" Type="http://schemas.openxmlformats.org/officeDocument/2006/relationships/hyperlink" Target="https://umanitoba.ca/student-supports/accessibility#volunteer-note-sharing" TargetMode="External"/><Relationship Id="rId4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/>
          </p:nvPr>
        </p:nvSpPr>
        <p:spPr>
          <a:xfrm>
            <a:off x="180000" y="1323000"/>
            <a:ext cx="8820000" cy="303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Why?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Help reduce barriers for your peers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Contribute to creating an inclusive University of Manitoba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Receive recognition on your </a:t>
            </a:r>
            <a:r>
              <a:rPr lang="en-US" sz="16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1"/>
              </a:rPr>
              <a:t>Experience Record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How?</a:t>
            </a:r>
            <a:endParaRPr lang="en-US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Login and upload your notes directly at </a:t>
            </a:r>
            <a:r>
              <a:rPr lang="en-US" sz="16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https://sasclockwork.cc.umanitoba.ca/ClockWork/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Submit notes in your preferred style (typed or handwritten)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only takes an extra 15 minutes weekly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Full instructions on to the </a:t>
            </a:r>
            <a:r>
              <a:rPr lang="en-US" sz="16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3"/>
              </a:rPr>
              <a:t>Student Accessibility Services website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 hasCustomPrompt="1"/>
          </p:nvPr>
        </p:nvSpPr>
        <p:spPr>
          <a:xfrm>
            <a:off x="360000" y="350640"/>
            <a:ext cx="8460000" cy="495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 Narrow"/>
              </a:rPr>
              <a:t>BECOME A VOLUNTEER NOTETAKER</a:t>
            </a:r>
            <a:endParaRPr lang="en-US" sz="3600" b="1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UM Presentation Theme - 4x3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_rels/item4.xml.rels><?xml version="1.0" encoding="UTF-8"?>
<Relationships xmlns="http://schemas.openxmlformats.org/package/2006/relationships"><Relationship Id="rId1" Type="http://schemas.openxmlformats.org/officeDocument/2006/relationships/customXmlProps" Target="itemProps4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10e1a2b-f4f6-48db-ae13-9749c6e360db">
      <Value>6</Value>
      <Value>5</Value>
      <Value>4</Value>
    </TaxCatchAll>
    <o38d7033aec44e9d836381792c025f3c xmlns="510e1a2b-f4f6-48db-ae13-9749c6e360db">
      <Terms xmlns="http://schemas.microsoft.com/office/infopath/2007/PartnerControls">
        <TermInfo>
          <TermName>Student supports</TermName>
          <TermId>2bd0456d-6710-44f8-9243-decfbc7b1f97</TermId>
        </TermInfo>
      </Terms>
    </o38d7033aec44e9d836381792c025f3c>
    <j07609623e9e4b138d9eafb18c9a3ff9 xmlns="510e1a2b-f4f6-48db-ae13-9749c6e360db">
      <Terms xmlns="http://schemas.microsoft.com/office/infopath/2007/PartnerControls">
        <TermInfo>
          <TermName>Student Affairs</TermName>
          <TermId>8979cafe-482e-47d7-8267-babef0a7e8d2</TermId>
        </TermInfo>
        <TermInfo>
          <TermName>Office of the Provost and Vice-President (Academic)</TermName>
          <TermId>aa225eef-7be4-4657-9fc8-d08d2fde2068</TermId>
        </TermInfo>
      </Terms>
    </j07609623e9e4b138d9eafb18c9a3ff9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3607ee36-e3c0-4814-8940-b096d0e7881e" ContentTypeId="0x01010053A41B782654C14889BAC81C348D1384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UM Intranet File" ma:contentTypeID="0x01010053A41B782654C14889BAC81C348D13840037EAF1737B01974F8F85382521DBFB5B" ma:contentTypeVersion="5" ma:contentTypeDescription="" ma:contentTypeScope="" ma:versionID="b7e6ada6ec9da5e694c726100f2f11d9">
  <xsd:schema xmlns:xsd="http://www.w3.org/2001/XMLSchema" xmlns:xs="http://www.w3.org/2001/XMLSchema" xmlns:p="http://schemas.microsoft.com/office/2006/metadata/properties" xmlns:ns2="510e1a2b-f4f6-48db-ae13-9749c6e360db" targetNamespace="http://schemas.microsoft.com/office/2006/metadata/properties" ma:root="true" ma:fieldsID="7ec04109287ae7a49e97b4015cb11248" ns2:_="">
    <xsd:import namespace="510e1a2b-f4f6-48db-ae13-9749c6e360db"/>
    <xsd:element name="properties">
      <xsd:complexType>
        <xsd:sequence>
          <xsd:element name="documentManagement">
            <xsd:complexType>
              <xsd:all>
                <xsd:element ref="ns2:o38d7033aec44e9d836381792c025f3c" minOccurs="0"/>
                <xsd:element ref="ns2:TaxCatchAll" minOccurs="0"/>
                <xsd:element ref="ns2:TaxCatchAllLabel" minOccurs="0"/>
                <xsd:element ref="ns2:j07609623e9e4b138d9eafb18c9a3ff9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0e1a2b-f4f6-48db-ae13-9749c6e360db" elementFormDefault="qualified">
    <xsd:import namespace="http://schemas.microsoft.com/office/2006/documentManagement/types"/>
    <xsd:import namespace="http://schemas.microsoft.com/office/infopath/2007/PartnerControls"/>
    <xsd:element name="o38d7033aec44e9d836381792c025f3c" ma:index="8" nillable="true" ma:taxonomy="true" ma:internalName="o38d7033aec44e9d836381792c025f3c" ma:taxonomyFieldName="UMTopic" ma:displayName="Topic" ma:default="4;#Student supports|2bd0456d-6710-44f8-9243-decfbc7b1f97" ma:fieldId="{838d7033-aec4-4e9d-8363-81792c025f3c}" ma:taxonomyMulti="true" ma:sspId="3607ee36-e3c0-4814-8940-b096d0e7881e" ma:termSetId="232c8f67-b30c-4013-87c5-4f6bb7f1c72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a851694f-6c29-4e38-960c-cdcccbee6b64}" ma:internalName="TaxCatchAll" ma:showField="CatchAllData" ma:web="0c2e5fc5-34ad-4370-8970-ebcca144e1c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a851694f-6c29-4e38-960c-cdcccbee6b64}" ma:internalName="TaxCatchAllLabel" ma:readOnly="true" ma:showField="CatchAllDataLabel" ma:web="0c2e5fc5-34ad-4370-8970-ebcca144e1c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07609623e9e4b138d9eafb18c9a3ff9" ma:index="12" nillable="true" ma:taxonomy="true" ma:internalName="j07609623e9e4b138d9eafb18c9a3ff9" ma:taxonomyFieldName="UMUnit" ma:displayName="Unit" ma:default="5;#Student Affairs|8979cafe-482e-47d7-8267-babef0a7e8d2;#6;#Office of the Provost and Vice-President (Academic)|aa225eef-7be4-4657-9fc8-d08d2fde2068" ma:fieldId="{30760962-3e9e-4b13-8d9e-afb18c9a3ff9}" ma:taxonomyMulti="true" ma:sspId="3607ee36-e3c0-4814-8940-b096d0e7881e" ma:termSetId="13f772fa-7766-49b6-b18d-1fc1b481d7d7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098791-F5B1-4F3C-9503-CCFE698AD080}">
  <ds:schemaRefs>
    <ds:schemaRef ds:uri="http://schemas.microsoft.com/office/2006/metadata/properties"/>
    <ds:schemaRef ds:uri="http://schemas.microsoft.com/office/infopath/2007/PartnerControls"/>
    <ds:schemaRef ds:uri="510e1a2b-f4f6-48db-ae13-9749c6e360db"/>
  </ds:schemaRefs>
</ds:datastoreItem>
</file>

<file path=customXml/itemProps2.xml><?xml version="1.0" encoding="utf-8"?>
<ds:datastoreItem xmlns:ds="http://schemas.openxmlformats.org/officeDocument/2006/customXml" ds:itemID="{3795A740-F73D-455A-98BC-EF737B03A2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7402D6-F582-4A3E-98FA-DC8C76FD0848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B664122D-1988-4E69-B5F9-B3BA00A8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0e1a2b-f4f6-48db-ae13-9749c6e360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Application>LibreOffice/26.8.0.3$Linux_X86_64 LibreOffice_project/680$Build-3</Application>
  <AppVersion>15.0000</AppVersion>
  <Words>75</Words>
  <Paragraphs>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2019-07-17T19:24:48Z</dcterms:created>
  <dc:creator>Kanisha Szekely</dc:creator>
  <dc:description/>
  <dc:language>en-CA</dc:language>
  <cp:lastModifiedBy>Julien Arino</cp:lastModifiedBy>
  <dcterms:modified xsi:type="dcterms:W3CDTF">2026-09-10T10:17:15Z</dcterms:modified>
  <cp:revision>21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0x01010053A41B782654C14889BAC81C348D13840037EAF1737B01974F8F85382521DBFB5B</vt:lpwstr>
  </property>
  <property fmtid="{D5CDD505-2E9C-101B-9397-08002B2CF9AE}" pid="3" name="PresentationFormat">
    <vt:lpwstr>On-screen Show (4:3)</vt:lpwstr>
  </property>
  <property fmtid="{D5CDD505-2E9C-101B-9397-08002B2CF9AE}" pid="4" name="Slides">
    <vt:i4>1</vt:i4>
  </property>
  <property fmtid="{D5CDD505-2E9C-101B-9397-08002B2CF9AE}" pid="5" name="UMTopic">
    <vt:lpwstr>4;#Student supports|2bd0456d-6710-44f8-9243-decfbc7b1f97</vt:lpwstr>
  </property>
  <property fmtid="{D5CDD505-2E9C-101B-9397-08002B2CF9AE}" pid="6" name="UMUnit">
    <vt:lpwstr>5;#Student Affairs|8979cafe-482e-47d7-8267-babef0a7e8d2;#6;#Office of the Provost and Vice-President (Academic)|aa225eef-7be4-4657-9fc8-d08d2fde2068</vt:lpwstr>
  </property>
</Properties>
</file>